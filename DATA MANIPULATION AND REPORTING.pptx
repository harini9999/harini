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7" d="100"/>
          <a:sy n="67" d="100"/>
        </p:scale>
        <p:origin x="644"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28403" y="945913"/>
            <a:ext cx="8637073" cy="2618554"/>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1128404" y="3564467"/>
            <a:ext cx="8637072" cy="1071095"/>
          </a:xfrm>
        </p:spPr>
        <p:txBody>
          <a:bodyPr tIns="91440" bIns="91440">
            <a:normAutofit/>
          </a:bodyPr>
          <a:lstStyle>
            <a:lvl1pPr marL="0" indent="0" algn="l">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37D1151-1329-44B0-9278-11B4D4B70A56}" type="datetimeFigureOut">
              <a:rPr lang="en-IN" smtClean="0"/>
              <a:t>12-02-2025</a:t>
            </a:fld>
            <a:endParaRPr lang="en-IN"/>
          </a:p>
        </p:txBody>
      </p:sp>
      <p:sp>
        <p:nvSpPr>
          <p:cNvPr id="5" name="Footer Placeholder 4"/>
          <p:cNvSpPr>
            <a:spLocks noGrp="1"/>
          </p:cNvSpPr>
          <p:nvPr>
            <p:ph type="ftr" sz="quarter" idx="11"/>
          </p:nvPr>
        </p:nvSpPr>
        <p:spPr>
          <a:xfrm>
            <a:off x="1127124" y="329307"/>
            <a:ext cx="5943668" cy="309201"/>
          </a:xfrm>
        </p:spPr>
        <p:txBody>
          <a:bodyPr/>
          <a:lstStyle/>
          <a:p>
            <a:endParaRPr lang="en-IN"/>
          </a:p>
        </p:txBody>
      </p:sp>
      <p:sp>
        <p:nvSpPr>
          <p:cNvPr id="6" name="Slide Number Placeholder 5"/>
          <p:cNvSpPr>
            <a:spLocks noGrp="1"/>
          </p:cNvSpPr>
          <p:nvPr>
            <p:ph type="sldNum" sz="quarter" idx="12"/>
          </p:nvPr>
        </p:nvSpPr>
        <p:spPr>
          <a:xfrm>
            <a:off x="9924392" y="134930"/>
            <a:ext cx="811019" cy="503578"/>
          </a:xfrm>
        </p:spPr>
        <p:txBody>
          <a:bodyPr/>
          <a:lstStyle/>
          <a:p>
            <a:fld id="{C03B812A-49C8-42EF-BB40-C648B8EBB63F}" type="slidenum">
              <a:rPr lang="en-IN" smtClean="0"/>
              <a:t>‹#›</a:t>
            </a:fld>
            <a:endParaRPr lang="en-IN"/>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3732250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z="1200"/>
            </a:lvl1pPr>
          </a:lstStyle>
          <a:p>
            <a:fld id="{937D1151-1329-44B0-9278-11B4D4B70A56}" type="datetimeFigureOut">
              <a:rPr lang="en-IN" smtClean="0"/>
              <a:t>12-02-2025</a:t>
            </a:fld>
            <a:endParaRPr lang="en-IN"/>
          </a:p>
        </p:txBody>
      </p:sp>
      <p:sp>
        <p:nvSpPr>
          <p:cNvPr id="5" name="Footer Placeholder 4"/>
          <p:cNvSpPr>
            <a:spLocks noGrp="1"/>
          </p:cNvSpPr>
          <p:nvPr>
            <p:ph type="ftr" sz="quarter" idx="11"/>
          </p:nvPr>
        </p:nvSpPr>
        <p:spPr/>
        <p:txBody>
          <a:bodyPr/>
          <a:lstStyle>
            <a:lvl1pPr>
              <a:defRPr sz="1200"/>
            </a:lvl1pPr>
          </a:lstStyle>
          <a:p>
            <a:endParaRPr lang="en-IN"/>
          </a:p>
        </p:txBody>
      </p:sp>
      <p:sp>
        <p:nvSpPr>
          <p:cNvPr id="6" name="Slide Number Placeholder 5"/>
          <p:cNvSpPr>
            <a:spLocks noGrp="1"/>
          </p:cNvSpPr>
          <p:nvPr>
            <p:ph type="sldNum" sz="quarter" idx="12"/>
          </p:nvPr>
        </p:nvSpPr>
        <p:spPr/>
        <p:txBody>
          <a:bodyPr/>
          <a:lstStyle/>
          <a:p>
            <a:fld id="{C03B812A-49C8-42EF-BB40-C648B8EBB63F}" type="slidenum">
              <a:rPr lang="en-IN" smtClean="0"/>
              <a:t>‹#›</a:t>
            </a:fld>
            <a:endParaRPr lang="en-IN"/>
          </a:p>
        </p:txBody>
      </p:sp>
      <p:pic>
        <p:nvPicPr>
          <p:cNvPr id="24" name="Picture 23"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3557406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29167" y="1756129"/>
            <a:ext cx="8619060" cy="2050065"/>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hasCustomPrompt="1"/>
          </p:nvPr>
        </p:nvSpPr>
        <p:spPr>
          <a:xfrm>
            <a:off x="1129166" y="3806195"/>
            <a:ext cx="8619060"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937D1151-1329-44B0-9278-11B4D4B70A56}" type="datetimeFigureOut">
              <a:rPr lang="en-IN" smtClean="0"/>
              <a:t>12-02-2025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3B812A-49C8-42EF-BB40-C648B8EBB63F}" type="slidenum">
              <a:rPr lang="en-IN" smtClean="0"/>
              <a:t>‹#›</a:t>
            </a:fld>
            <a:endParaRPr lang="en-IN"/>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39775008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31052" y="958037"/>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129166" y="2165621"/>
            <a:ext cx="4645152" cy="329385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95606" y="2171769"/>
            <a:ext cx="4645152" cy="328709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7D1151-1329-44B0-9278-11B4D4B70A56}" type="datetimeFigureOut">
              <a:rPr lang="en-IN" smtClean="0"/>
              <a:t>12-02-2025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03B812A-49C8-42EF-BB40-C648B8EBB63F}" type="slidenum">
              <a:rPr lang="en-IN" smtClean="0"/>
              <a:t>‹#›</a:t>
            </a:fld>
            <a:endParaRPr lang="en-IN"/>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28951068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29166" y="953336"/>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29166" y="2169727"/>
            <a:ext cx="4645152" cy="801943"/>
          </a:xfrm>
        </p:spPr>
        <p:txBody>
          <a:bodyPr anchor="b">
            <a:normAutofit/>
          </a:bodyPr>
          <a:lstStyle>
            <a:lvl1pPr marL="0" indent="0">
              <a:lnSpc>
                <a:spcPct val="100000"/>
              </a:lnSpc>
              <a:buNone/>
              <a:defRPr sz="2800" b="0" cap="none"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29166" y="2974448"/>
            <a:ext cx="4645152" cy="249387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4337" y="2173181"/>
            <a:ext cx="4645152" cy="802237"/>
          </a:xfrm>
        </p:spPr>
        <p:txBody>
          <a:bodyPr anchor="b">
            <a:normAutofit/>
          </a:bodyPr>
          <a:lstStyle>
            <a:lvl1pPr marL="0" indent="0">
              <a:lnSpc>
                <a:spcPct val="100000"/>
              </a:lnSpc>
              <a:buNone/>
              <a:defRPr sz="2800" b="0" cap="none"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094337" y="2971669"/>
            <a:ext cx="4645152" cy="248719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37D1151-1329-44B0-9278-11B4D4B70A56}" type="datetimeFigureOut">
              <a:rPr lang="en-IN" smtClean="0"/>
              <a:t>12-02-2025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03B812A-49C8-42EF-BB40-C648B8EBB63F}" type="slidenum">
              <a:rPr lang="en-IN" smtClean="0"/>
              <a:t>‹#›</a:t>
            </a:fld>
            <a:endParaRPr lang="en-IN"/>
          </a:p>
        </p:txBody>
      </p:sp>
      <p:pic>
        <p:nvPicPr>
          <p:cNvPr id="18" name="Picture 17"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2314117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37D1151-1329-44B0-9278-11B4D4B70A56}" type="datetimeFigureOut">
              <a:rPr lang="en-IN" smtClean="0"/>
              <a:t>12-02-2025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03B812A-49C8-42EF-BB40-C648B8EBB63F}" type="slidenum">
              <a:rPr lang="en-IN" smtClean="0"/>
              <a:t>‹#›</a:t>
            </a:fld>
            <a:endParaRPr lang="en-IN"/>
          </a:p>
        </p:txBody>
      </p:sp>
      <p:pic>
        <p:nvPicPr>
          <p:cNvPr id="14" name="Picture 13"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1366807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7D1151-1329-44B0-9278-11B4D4B70A56}" type="datetimeFigureOut">
              <a:rPr lang="en-IN" smtClean="0"/>
              <a:t>12-02-2025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03B812A-49C8-42EF-BB40-C648B8EBB63F}" type="slidenum">
              <a:rPr lang="en-IN" smtClean="0"/>
              <a:t>‹#›</a:t>
            </a:fld>
            <a:endParaRPr lang="en-IN"/>
          </a:p>
        </p:txBody>
      </p:sp>
    </p:spTree>
    <p:extLst>
      <p:ext uri="{BB962C8B-B14F-4D97-AF65-F5344CB8AC3E}">
        <p14:creationId xmlns:p14="http://schemas.microsoft.com/office/powerpoint/2010/main" val="30593178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24291" y="952578"/>
            <a:ext cx="3275013" cy="2322176"/>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723334" y="952578"/>
            <a:ext cx="6012470" cy="4505221"/>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24291" y="3274754"/>
            <a:ext cx="3275013" cy="2178918"/>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37D1151-1329-44B0-9278-11B4D4B70A56}" type="datetimeFigureOut">
              <a:rPr lang="en-IN" smtClean="0"/>
              <a:t>12-02-2025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03B812A-49C8-42EF-BB40-C648B8EBB63F}" type="slidenum">
              <a:rPr lang="en-IN" smtClean="0"/>
              <a:t>‹#›</a:t>
            </a:fld>
            <a:endParaRPr lang="en-IN"/>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18063202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gradFill>
              <a:gsLst>
                <a:gs pos="0">
                  <a:schemeClr val="tx1">
                    <a:lumMod val="85000"/>
                    <a:lumOff val="15000"/>
                  </a:schemeClr>
                </a:gs>
                <a:gs pos="100000">
                  <a:schemeClr val="tx1">
                    <a:lumMod val="95000"/>
                    <a:lumOff val="5000"/>
                  </a:schemeClr>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14300" prst="artDeco"/>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129124" y="1129513"/>
            <a:ext cx="5854872" cy="1924208"/>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28247" y="3053721"/>
            <a:ext cx="5846486" cy="2096013"/>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1125300" y="5469856"/>
            <a:ext cx="5849605" cy="320123"/>
          </a:xfrm>
        </p:spPr>
        <p:txBody>
          <a:bodyPr/>
          <a:lstStyle>
            <a:lvl1pPr algn="l">
              <a:defRPr/>
            </a:lvl1pPr>
          </a:lstStyle>
          <a:p>
            <a:fld id="{937D1151-1329-44B0-9278-11B4D4B70A56}" type="datetimeFigureOut">
              <a:rPr lang="en-IN" smtClean="0"/>
              <a:t>12-02-2025</a:t>
            </a:fld>
            <a:endParaRPr lang="en-IN"/>
          </a:p>
        </p:txBody>
      </p:sp>
      <p:sp>
        <p:nvSpPr>
          <p:cNvPr id="6" name="Footer Placeholder 5"/>
          <p:cNvSpPr>
            <a:spLocks noGrp="1"/>
          </p:cNvSpPr>
          <p:nvPr>
            <p:ph type="ftr" sz="quarter" idx="11"/>
          </p:nvPr>
        </p:nvSpPr>
        <p:spPr>
          <a:xfrm>
            <a:off x="1125300" y="318640"/>
            <a:ext cx="4877818" cy="320931"/>
          </a:xfrm>
        </p:spPr>
        <p:txBody>
          <a:bodyPr/>
          <a:lstStyle/>
          <a:p>
            <a:endParaRPr lang="en-IN"/>
          </a:p>
        </p:txBody>
      </p:sp>
      <p:sp>
        <p:nvSpPr>
          <p:cNvPr id="7" name="Slide Number Placeholder 6"/>
          <p:cNvSpPr>
            <a:spLocks noGrp="1"/>
          </p:cNvSpPr>
          <p:nvPr>
            <p:ph type="sldNum" sz="quarter" idx="12"/>
          </p:nvPr>
        </p:nvSpPr>
        <p:spPr>
          <a:xfrm>
            <a:off x="6176794" y="137408"/>
            <a:ext cx="811019" cy="503578"/>
          </a:xfrm>
        </p:spPr>
        <p:txBody>
          <a:bodyPr/>
          <a:lstStyle/>
          <a:p>
            <a:fld id="{C03B812A-49C8-42EF-BB40-C648B8EBB63F}" type="slidenum">
              <a:rPr lang="en-IN" smtClean="0"/>
              <a:t>‹#›</a:t>
            </a:fld>
            <a:endParaRPr lang="en-IN"/>
          </a:p>
        </p:txBody>
      </p:sp>
      <p:pic>
        <p:nvPicPr>
          <p:cNvPr id="22" name="Picture 21"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6" t="474" r="48549" b="36564"/>
          <a:stretch/>
        </p:blipFill>
        <p:spPr>
          <a:xfrm>
            <a:off x="1125460" y="643464"/>
            <a:ext cx="5879592" cy="155448"/>
          </a:xfrm>
          <a:prstGeom prst="rect">
            <a:avLst/>
          </a:prstGeom>
          <a:noFill/>
          <a:ln>
            <a:noFill/>
          </a:ln>
        </p:spPr>
      </p:pic>
    </p:spTree>
    <p:extLst>
      <p:ext uri="{BB962C8B-B14F-4D97-AF65-F5344CB8AC3E}">
        <p14:creationId xmlns:p14="http://schemas.microsoft.com/office/powerpoint/2010/main" val="17716448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7D1151-1329-44B0-9278-11B4D4B70A56}" type="datetimeFigureOut">
              <a:rPr lang="en-IN" smtClean="0"/>
              <a:t>12-02-2025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3B812A-49C8-42EF-BB40-C648B8EBB63F}" type="slidenum">
              <a:rPr lang="en-IN" smtClean="0"/>
              <a:t>‹#›</a:t>
            </a:fld>
            <a:endParaRPr lang="en-IN"/>
          </a:p>
        </p:txBody>
      </p:sp>
      <p:pic>
        <p:nvPicPr>
          <p:cNvPr id="15" name="Picture 14"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4526298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4709"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130270" y="798973"/>
            <a:ext cx="7828830" cy="465988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7D1151-1329-44B0-9278-11B4D4B70A56}" type="datetimeFigureOut">
              <a:rPr lang="en-IN" smtClean="0"/>
              <a:t>12-02-2025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3B812A-49C8-42EF-BB40-C648B8EBB63F}" type="slidenum">
              <a:rPr lang="en-IN" smtClean="0"/>
              <a:t>‹#›</a:t>
            </a:fld>
            <a:endParaRPr lang="en-IN"/>
          </a:p>
        </p:txBody>
      </p:sp>
      <p:pic>
        <p:nvPicPr>
          <p:cNvPr id="17" name="Picture 16"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59215" b="36435"/>
          <a:stretch/>
        </p:blipFill>
        <p:spPr>
          <a:xfrm rot="5400000">
            <a:off x="8642279" y="3046916"/>
            <a:ext cx="4663440" cy="155448"/>
          </a:xfrm>
          <a:prstGeom prst="rect">
            <a:avLst/>
          </a:prstGeom>
          <a:noFill/>
          <a:ln>
            <a:noFill/>
          </a:ln>
        </p:spPr>
      </p:pic>
    </p:spTree>
    <p:extLst>
      <p:ext uri="{BB962C8B-B14F-4D97-AF65-F5344CB8AC3E}">
        <p14:creationId xmlns:p14="http://schemas.microsoft.com/office/powerpoint/2010/main" val="40052207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a:xfrm>
            <a:off x="0" y="6119336"/>
            <a:ext cx="12192000" cy="742950"/>
          </a:xfrm>
          <a:prstGeom prst="rect">
            <a:avLst/>
          </a:prstGeom>
        </p:spPr>
      </p:pic>
      <p:sp>
        <p:nvSpPr>
          <p:cNvPr id="13" name="Rectangle 12"/>
          <p:cNvSpPr/>
          <p:nvPr/>
        </p:nvSpPr>
        <p:spPr>
          <a:xfrm>
            <a:off x="0" y="468769"/>
            <a:ext cx="12192000" cy="5647024"/>
          </a:xfrm>
          <a:prstGeom prst="rect">
            <a:avLst/>
          </a:prstGeom>
          <a:gradFill flip="none" rotWithShape="1">
            <a:gsLst>
              <a:gs pos="0">
                <a:schemeClr val="bg2">
                  <a:alpha val="0"/>
                  <a:lumMod val="100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4" name="Straight Connector 13"/>
          <p:cNvCxnSpPr/>
          <p:nvPr/>
        </p:nvCxnSpPr>
        <p:spPr>
          <a:xfrm>
            <a:off x="0" y="6121269"/>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130270" y="953324"/>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130270" y="2171769"/>
            <a:ext cx="9603275" cy="3294576"/>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232830" y="330370"/>
            <a:ext cx="2515396"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937D1151-1329-44B0-9278-11B4D4B70A56}" type="datetimeFigureOut">
              <a:rPr lang="en-IN" smtClean="0"/>
              <a:t>12-02-2025</a:t>
            </a:fld>
            <a:endParaRPr lang="en-IN"/>
          </a:p>
        </p:txBody>
      </p:sp>
      <p:sp>
        <p:nvSpPr>
          <p:cNvPr id="5" name="Footer Placeholder 4"/>
          <p:cNvSpPr>
            <a:spLocks noGrp="1"/>
          </p:cNvSpPr>
          <p:nvPr>
            <p:ph type="ftr" sz="quarter" idx="3"/>
          </p:nvPr>
        </p:nvSpPr>
        <p:spPr>
          <a:xfrm>
            <a:off x="1130270"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9918076" y="137408"/>
            <a:ext cx="811019" cy="503578"/>
          </a:xfrm>
          <a:prstGeom prst="rect">
            <a:avLst/>
          </a:prstGeom>
        </p:spPr>
        <p:txBody>
          <a:bodyPr vert="horz" lIns="91440" tIns="45720" rIns="91440" bIns="45720" rtlCol="0" anchor="t"/>
          <a:lstStyle>
            <a:lvl1pPr algn="r">
              <a:defRPr sz="2800">
                <a:solidFill>
                  <a:schemeClr val="accent1"/>
                </a:solidFill>
              </a:defRPr>
            </a:lvl1pPr>
          </a:lstStyle>
          <a:p>
            <a:fld id="{C03B812A-49C8-42EF-BB40-C648B8EBB63F}" type="slidenum">
              <a:rPr lang="en-IN" smtClean="0"/>
              <a:t>‹#›</a:t>
            </a:fld>
            <a:endParaRPr lang="en-IN"/>
          </a:p>
        </p:txBody>
      </p:sp>
    </p:spTree>
    <p:extLst>
      <p:ext uri="{BB962C8B-B14F-4D97-AF65-F5344CB8AC3E}">
        <p14:creationId xmlns:p14="http://schemas.microsoft.com/office/powerpoint/2010/main" val="9333153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3200" b="0" i="0" kern="1200" cap="none">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2FFD4-06DE-4354-8B66-4BCDBA84369B}"/>
              </a:ext>
            </a:extLst>
          </p:cNvPr>
          <p:cNvSpPr>
            <a:spLocks noGrp="1"/>
          </p:cNvSpPr>
          <p:nvPr>
            <p:ph type="ctrTitle"/>
          </p:nvPr>
        </p:nvSpPr>
        <p:spPr/>
        <p:txBody>
          <a:bodyPr>
            <a:normAutofit fontScale="90000"/>
          </a:bodyPr>
          <a:lstStyle/>
          <a:p>
            <a:r>
              <a:rPr lang="en-US" b="1" dirty="0"/>
              <a:t>DATA MANIPULATION</a:t>
            </a:r>
            <a:br>
              <a:rPr lang="en-US" b="1" dirty="0"/>
            </a:br>
            <a:r>
              <a:rPr lang="en-US" b="1" dirty="0"/>
              <a:t> AND </a:t>
            </a:r>
            <a:br>
              <a:rPr lang="en-US" b="1" dirty="0"/>
            </a:br>
            <a:r>
              <a:rPr lang="en-US" b="1" dirty="0"/>
              <a:t>REPORTING</a:t>
            </a:r>
            <a:endParaRPr lang="en-IN" b="1" dirty="0"/>
          </a:p>
        </p:txBody>
      </p:sp>
      <p:sp>
        <p:nvSpPr>
          <p:cNvPr id="3" name="Subtitle 2">
            <a:extLst>
              <a:ext uri="{FF2B5EF4-FFF2-40B4-BE49-F238E27FC236}">
                <a16:creationId xmlns:a16="http://schemas.microsoft.com/office/drawing/2014/main" id="{E05992F6-6845-443E-9208-BBC89EE6FFA3}"/>
              </a:ext>
            </a:extLst>
          </p:cNvPr>
          <p:cNvSpPr>
            <a:spLocks noGrp="1"/>
          </p:cNvSpPr>
          <p:nvPr>
            <p:ph type="subTitle" idx="1"/>
          </p:nvPr>
        </p:nvSpPr>
        <p:spPr/>
        <p:txBody>
          <a:bodyPr>
            <a:normAutofit fontScale="85000" lnSpcReduction="20000"/>
          </a:bodyPr>
          <a:lstStyle/>
          <a:p>
            <a:endParaRPr lang="en-US" sz="2800" dirty="0"/>
          </a:p>
          <a:p>
            <a:r>
              <a:rPr lang="en-US" sz="2800" dirty="0"/>
              <a:t>WITH POWER BI</a:t>
            </a:r>
            <a:endParaRPr lang="en-IN" sz="2800" dirty="0"/>
          </a:p>
        </p:txBody>
      </p:sp>
    </p:spTree>
    <p:extLst>
      <p:ext uri="{BB962C8B-B14F-4D97-AF65-F5344CB8AC3E}">
        <p14:creationId xmlns:p14="http://schemas.microsoft.com/office/powerpoint/2010/main" val="11115945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09A55-673B-4CE4-8D4A-62F8069285A4}"/>
              </a:ext>
            </a:extLst>
          </p:cNvPr>
          <p:cNvSpPr>
            <a:spLocks noGrp="1"/>
          </p:cNvSpPr>
          <p:nvPr>
            <p:ph type="title"/>
          </p:nvPr>
        </p:nvSpPr>
        <p:spPr/>
        <p:txBody>
          <a:bodyPr/>
          <a:lstStyle/>
          <a:p>
            <a:r>
              <a:rPr lang="en-US" dirty="0"/>
              <a:t>DATA MANIPULATION</a:t>
            </a:r>
            <a:endParaRPr lang="en-IN" dirty="0"/>
          </a:p>
        </p:txBody>
      </p:sp>
      <p:sp>
        <p:nvSpPr>
          <p:cNvPr id="3" name="Content Placeholder 2">
            <a:extLst>
              <a:ext uri="{FF2B5EF4-FFF2-40B4-BE49-F238E27FC236}">
                <a16:creationId xmlns:a16="http://schemas.microsoft.com/office/drawing/2014/main" id="{19D68693-2712-4CAC-B7F4-C44C525F06E8}"/>
              </a:ext>
            </a:extLst>
          </p:cNvPr>
          <p:cNvSpPr>
            <a:spLocks noGrp="1"/>
          </p:cNvSpPr>
          <p:nvPr>
            <p:ph idx="1"/>
          </p:nvPr>
        </p:nvSpPr>
        <p:spPr/>
        <p:txBody>
          <a:bodyPr/>
          <a:lstStyle/>
          <a:p>
            <a:r>
              <a:rPr lang="en-US" dirty="0"/>
              <a:t>Data manipulation is the process of transforming and organizing raw data within the Power Query Editor to make it suitable for analysis and visualization by cleaning, filtering, combining, adding calculated columns, and restructuring data before it is loaded into Power BI.</a:t>
            </a:r>
            <a:endParaRPr lang="en-IN" dirty="0"/>
          </a:p>
        </p:txBody>
      </p:sp>
    </p:spTree>
    <p:extLst>
      <p:ext uri="{BB962C8B-B14F-4D97-AF65-F5344CB8AC3E}">
        <p14:creationId xmlns:p14="http://schemas.microsoft.com/office/powerpoint/2010/main" val="36417756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77999-6090-4803-AB1D-7D64519394A4}"/>
              </a:ext>
            </a:extLst>
          </p:cNvPr>
          <p:cNvSpPr>
            <a:spLocks noGrp="1"/>
          </p:cNvSpPr>
          <p:nvPr>
            <p:ph type="title"/>
          </p:nvPr>
        </p:nvSpPr>
        <p:spPr/>
        <p:txBody>
          <a:bodyPr/>
          <a:lstStyle/>
          <a:p>
            <a:r>
              <a:rPr lang="en-US" dirty="0"/>
              <a:t>USES OF DATA MANIPULATION</a:t>
            </a:r>
            <a:endParaRPr lang="en-IN" dirty="0"/>
          </a:p>
        </p:txBody>
      </p:sp>
      <p:sp>
        <p:nvSpPr>
          <p:cNvPr id="3" name="Content Placeholder 2">
            <a:extLst>
              <a:ext uri="{FF2B5EF4-FFF2-40B4-BE49-F238E27FC236}">
                <a16:creationId xmlns:a16="http://schemas.microsoft.com/office/drawing/2014/main" id="{71CB3D85-2148-4444-8B38-0160F01DA239}"/>
              </a:ext>
            </a:extLst>
          </p:cNvPr>
          <p:cNvSpPr>
            <a:spLocks noGrp="1"/>
          </p:cNvSpPr>
          <p:nvPr>
            <p:ph idx="1"/>
          </p:nvPr>
        </p:nvSpPr>
        <p:spPr/>
        <p:txBody>
          <a:bodyPr/>
          <a:lstStyle/>
          <a:p>
            <a:r>
              <a:rPr lang="en-US" dirty="0"/>
              <a:t>Data manipulation is used in various industries including</a:t>
            </a:r>
          </a:p>
          <a:p>
            <a:pPr marL="0" indent="0">
              <a:buNone/>
            </a:pPr>
            <a:r>
              <a:rPr lang="en-US" dirty="0"/>
              <a:t> accounting, finance, computer programming, banking, sales, marketing   and real estate.</a:t>
            </a:r>
            <a:endParaRPr lang="en-IN" dirty="0"/>
          </a:p>
        </p:txBody>
      </p:sp>
    </p:spTree>
    <p:extLst>
      <p:ext uri="{BB962C8B-B14F-4D97-AF65-F5344CB8AC3E}">
        <p14:creationId xmlns:p14="http://schemas.microsoft.com/office/powerpoint/2010/main" val="27470119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6A6E4-1709-4235-BD0D-234B82171E66}"/>
              </a:ext>
            </a:extLst>
          </p:cNvPr>
          <p:cNvSpPr>
            <a:spLocks noGrp="1"/>
          </p:cNvSpPr>
          <p:nvPr>
            <p:ph type="title"/>
          </p:nvPr>
        </p:nvSpPr>
        <p:spPr/>
        <p:txBody>
          <a:bodyPr/>
          <a:lstStyle/>
          <a:p>
            <a:r>
              <a:rPr lang="en-US" dirty="0"/>
              <a:t>REPORTS IN POWER BI</a:t>
            </a:r>
            <a:endParaRPr lang="en-IN" dirty="0"/>
          </a:p>
        </p:txBody>
      </p:sp>
      <p:sp>
        <p:nvSpPr>
          <p:cNvPr id="3" name="Content Placeholder 2">
            <a:extLst>
              <a:ext uri="{FF2B5EF4-FFF2-40B4-BE49-F238E27FC236}">
                <a16:creationId xmlns:a16="http://schemas.microsoft.com/office/drawing/2014/main" id="{453085D1-0336-4AB7-B2BD-5148F6FA222E}"/>
              </a:ext>
            </a:extLst>
          </p:cNvPr>
          <p:cNvSpPr>
            <a:spLocks noGrp="1"/>
          </p:cNvSpPr>
          <p:nvPr>
            <p:ph idx="1"/>
          </p:nvPr>
        </p:nvSpPr>
        <p:spPr/>
        <p:txBody>
          <a:bodyPr/>
          <a:lstStyle/>
          <a:p>
            <a:r>
              <a:rPr lang="en-US" dirty="0"/>
              <a:t>Power BI is a collection of software services and applications that allow users to create reports and dashboards from data sources. These reports can be interactive, visual, and clear. </a:t>
            </a:r>
            <a:endParaRPr lang="en-IN" dirty="0"/>
          </a:p>
        </p:txBody>
      </p:sp>
    </p:spTree>
    <p:extLst>
      <p:ext uri="{BB962C8B-B14F-4D97-AF65-F5344CB8AC3E}">
        <p14:creationId xmlns:p14="http://schemas.microsoft.com/office/powerpoint/2010/main" val="10269796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D692C-D424-4EF1-BB61-D5EAAED08277}"/>
              </a:ext>
            </a:extLst>
          </p:cNvPr>
          <p:cNvSpPr>
            <a:spLocks noGrp="1"/>
          </p:cNvSpPr>
          <p:nvPr>
            <p:ph type="title"/>
          </p:nvPr>
        </p:nvSpPr>
        <p:spPr/>
        <p:txBody>
          <a:bodyPr/>
          <a:lstStyle/>
          <a:p>
            <a:r>
              <a:rPr lang="en-US" dirty="0"/>
              <a:t>TYPES OF REPORTS IN POWER BI</a:t>
            </a:r>
            <a:endParaRPr lang="en-IN" dirty="0"/>
          </a:p>
        </p:txBody>
      </p:sp>
      <p:sp>
        <p:nvSpPr>
          <p:cNvPr id="3" name="Content Placeholder 2">
            <a:extLst>
              <a:ext uri="{FF2B5EF4-FFF2-40B4-BE49-F238E27FC236}">
                <a16:creationId xmlns:a16="http://schemas.microsoft.com/office/drawing/2014/main" id="{26C335AE-318E-44DB-AAA9-72648063AE90}"/>
              </a:ext>
            </a:extLst>
          </p:cNvPr>
          <p:cNvSpPr>
            <a:spLocks noGrp="1"/>
          </p:cNvSpPr>
          <p:nvPr>
            <p:ph idx="1"/>
          </p:nvPr>
        </p:nvSpPr>
        <p:spPr/>
        <p:txBody>
          <a:bodyPr/>
          <a:lstStyle/>
          <a:p>
            <a:pPr fontAlgn="ctr"/>
            <a:r>
              <a:rPr lang="en-US" b="1" dirty="0"/>
              <a:t>Paginated reports</a:t>
            </a:r>
            <a:r>
              <a:rPr lang="en-US" dirty="0"/>
              <a:t>: These reports are formatted to fit on multiple pages and are optimized for printing or PDF generation. They are created using the Power BI Report Builder tool. </a:t>
            </a:r>
          </a:p>
          <a:p>
            <a:r>
              <a:rPr lang="en-US" b="1" dirty="0"/>
              <a:t>Mobile reports</a:t>
            </a:r>
            <a:r>
              <a:rPr lang="en-US" dirty="0"/>
              <a:t>: These reports can be created using the Power BI Report Server. </a:t>
            </a:r>
          </a:p>
          <a:p>
            <a:endParaRPr lang="en-IN" dirty="0"/>
          </a:p>
        </p:txBody>
      </p:sp>
    </p:spTree>
    <p:extLst>
      <p:ext uri="{BB962C8B-B14F-4D97-AF65-F5344CB8AC3E}">
        <p14:creationId xmlns:p14="http://schemas.microsoft.com/office/powerpoint/2010/main" val="15144893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FF668-D1FA-401E-9FBC-B130CFD33A56}"/>
              </a:ext>
            </a:extLst>
          </p:cNvPr>
          <p:cNvSpPr>
            <a:spLocks noGrp="1"/>
          </p:cNvSpPr>
          <p:nvPr>
            <p:ph type="title"/>
          </p:nvPr>
        </p:nvSpPr>
        <p:spPr/>
        <p:txBody>
          <a:bodyPr/>
          <a:lstStyle/>
          <a:p>
            <a:r>
              <a:rPr lang="en-US" dirty="0"/>
              <a:t>DAX EQUATIONS</a:t>
            </a:r>
            <a:endParaRPr lang="en-IN" dirty="0"/>
          </a:p>
        </p:txBody>
      </p:sp>
      <p:sp>
        <p:nvSpPr>
          <p:cNvPr id="10" name="Content Placeholder 9">
            <a:extLst>
              <a:ext uri="{FF2B5EF4-FFF2-40B4-BE49-F238E27FC236}">
                <a16:creationId xmlns:a16="http://schemas.microsoft.com/office/drawing/2014/main" id="{E3EA03C8-926A-4EE1-ADA5-6BAE954896EB}"/>
              </a:ext>
            </a:extLst>
          </p:cNvPr>
          <p:cNvSpPr>
            <a:spLocks noGrp="1"/>
          </p:cNvSpPr>
          <p:nvPr>
            <p:ph idx="1"/>
          </p:nvPr>
        </p:nvSpPr>
        <p:spPr/>
        <p:txBody>
          <a:bodyPr/>
          <a:lstStyle/>
          <a:p>
            <a:r>
              <a:rPr lang="en-US" dirty="0"/>
              <a:t>DAX is a collection of functions, operators, and constants that can be used in a formula, or expression, to calculate and return one or more values. DAX helps you create new information from data already in your model.</a:t>
            </a:r>
            <a:endParaRPr lang="en-IN" dirty="0"/>
          </a:p>
        </p:txBody>
      </p:sp>
    </p:spTree>
    <p:extLst>
      <p:ext uri="{BB962C8B-B14F-4D97-AF65-F5344CB8AC3E}">
        <p14:creationId xmlns:p14="http://schemas.microsoft.com/office/powerpoint/2010/main" val="12135436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A755E-2B92-413F-848C-6D644E3F7DFC}"/>
              </a:ext>
            </a:extLst>
          </p:cNvPr>
          <p:cNvSpPr>
            <a:spLocks noGrp="1"/>
          </p:cNvSpPr>
          <p:nvPr>
            <p:ph type="title"/>
          </p:nvPr>
        </p:nvSpPr>
        <p:spPr>
          <a:xfrm>
            <a:off x="1130270" y="2809875"/>
            <a:ext cx="9603275" cy="1619250"/>
          </a:xfrm>
        </p:spPr>
        <p:txBody>
          <a:bodyPr/>
          <a:lstStyle/>
          <a:p>
            <a:pPr algn="ctr"/>
            <a:r>
              <a:rPr lang="en-US" dirty="0"/>
              <a:t>THANK YOU</a:t>
            </a:r>
            <a:endParaRPr lang="en-IN" dirty="0"/>
          </a:p>
        </p:txBody>
      </p:sp>
      <p:sp>
        <p:nvSpPr>
          <p:cNvPr id="3" name="Content Placeholder 2">
            <a:extLst>
              <a:ext uri="{FF2B5EF4-FFF2-40B4-BE49-F238E27FC236}">
                <a16:creationId xmlns:a16="http://schemas.microsoft.com/office/drawing/2014/main" id="{D51C2649-22C4-4750-878A-AE3630F47FBC}"/>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3260075667"/>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CDCE0"/>
      </a:lt2>
      <a:accent1>
        <a:srgbClr val="415588"/>
      </a:accent1>
      <a:accent2>
        <a:srgbClr val="4294B6"/>
      </a:accent2>
      <a:accent3>
        <a:srgbClr val="087D7C"/>
      </a:accent3>
      <a:accent4>
        <a:srgbClr val="2CB663"/>
      </a:accent4>
      <a:accent5>
        <a:srgbClr val="DF8822"/>
      </a:accent5>
      <a:accent6>
        <a:srgbClr val="BC410A"/>
      </a:accent6>
      <a:hlink>
        <a:srgbClr val="5977C4"/>
      </a:hlink>
      <a:folHlink>
        <a:srgbClr val="A1A9BF"/>
      </a:folHlink>
    </a:clrScheme>
    <a:fontScheme name="Gallery">
      <a:majorFont>
        <a:latin typeface="Century Gothic" panose="020B0502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lumMod val="108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E050AC27-895F-4B90-991D-A6818FC89AB6}"/>
    </a:ext>
  </a:extLst>
</a:theme>
</file>

<file path=docProps/app.xml><?xml version="1.0" encoding="utf-8"?>
<Properties xmlns="http://schemas.openxmlformats.org/officeDocument/2006/extended-properties" xmlns:vt="http://schemas.openxmlformats.org/officeDocument/2006/docPropsVTypes">
  <Template>Gallery</Template>
  <TotalTime>11</TotalTime>
  <Words>232</Words>
  <Application>Microsoft Office PowerPoint</Application>
  <PresentationFormat>Widescreen</PresentationFormat>
  <Paragraphs>16</Paragraphs>
  <Slides>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Century Gothic</vt:lpstr>
      <vt:lpstr>Gallery</vt:lpstr>
      <vt:lpstr>DATA MANIPULATION  AND  REPORTING</vt:lpstr>
      <vt:lpstr>DATA MANIPULATION</vt:lpstr>
      <vt:lpstr>USES OF DATA MANIPULATION</vt:lpstr>
      <vt:lpstr>REPORTS IN POWER BI</vt:lpstr>
      <vt:lpstr>TYPES OF REPORTS IN POWER BI</vt:lpstr>
      <vt:lpstr>DAX EQUATIONS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MANIPULATION  AND  REPORTING</dc:title>
  <dc:creator>Sridhar v</dc:creator>
  <cp:lastModifiedBy>Sridhar v</cp:lastModifiedBy>
  <cp:revision>2</cp:revision>
  <dcterms:created xsi:type="dcterms:W3CDTF">2025-02-12T11:54:43Z</dcterms:created>
  <dcterms:modified xsi:type="dcterms:W3CDTF">2025-02-12T12:05:50Z</dcterms:modified>
</cp:coreProperties>
</file>